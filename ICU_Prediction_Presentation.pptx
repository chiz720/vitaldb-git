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Will They Go to ICU?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EC9B0"/>
                </a:solidFill>
                <a:latin typeface="Calibri"/>
              </a:defRPr>
            </a:pPr>
            <a:r>
              <a:t>Predicting Unplanned ICU Admission</a:t>
            </a:r>
            <a:br/>
            <a:r>
              <a:t>from Intraoperative Blood Pressure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301752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Dr Idris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Data: VitalDB  ·  100 surgical cases  ·  Seoul National University Hospital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Clinical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Every anaesthetist faces this at case end:
"Does this patient need ICU or can they go to the ward?"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The decision is usually based on gut feeling + experience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Getting it wrong matters: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    Missed ICU → patient deteriorates on the ward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    Over-triage → wasted ICU bed in a scarce resource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029200"/>
            <a:ext cx="10058400" cy="9144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Can we use data already being recorded to help make this call?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Data Do We Already Have?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Every patient with an arterial line has continuous MAP
recorded every 2 seconds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By end of case: thousands of blood pressure readings
we currently ignore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Plus: blood loss, fluids given, vasopressor use
— all routinely documented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10058400" cy="1097280"/>
          </a:xfrm>
          <a:prstGeom prst="roundRect">
            <a:avLst/>
          </a:prstGeom>
          <a:solidFill>
            <a:srgbClr val="4E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We are sitting on a goldmine of data</a:t>
            </a:r>
            <a:br/>
            <a:r>
              <a:t>we already collect but don't systematically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Study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4EC9B0"/>
                </a:solidFill>
                <a:latin typeface="Calibri"/>
              </a:rPr>
              <a:t>●  </a:t>
            </a:r>
            <a:r>
              <a:rPr sz="1900">
                <a:solidFill>
                  <a:srgbClr val="FFFFFF"/>
                </a:solidFill>
                <a:latin typeface="Calibri"/>
              </a:rPr>
              <a:t>VitalDB — open-access surgical database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4EC9B0"/>
                </a:solidFill>
                <a:latin typeface="Calibri"/>
              </a:rPr>
              <a:t>●  </a:t>
            </a:r>
            <a:r>
              <a:rPr sz="1900">
                <a:solidFill>
                  <a:srgbClr val="FFFFFF"/>
                </a:solidFill>
                <a:latin typeface="Calibri"/>
              </a:rPr>
              <a:t>100 cases with complete arterial line recordings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4EC9B0"/>
                </a:solidFill>
                <a:latin typeface="Calibri"/>
              </a:rPr>
              <a:t>●  </a:t>
            </a:r>
            <a:r>
              <a:rPr sz="1900">
                <a:solidFill>
                  <a:srgbClr val="FFFFFF"/>
                </a:solidFill>
                <a:latin typeface="Calibri"/>
              </a:rPr>
              <a:t>51 went to ICU, 49 to ward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4EC9B0"/>
                </a:solidFill>
                <a:latin typeface="Calibri"/>
              </a:rPr>
              <a:t>●  </a:t>
            </a:r>
            <a:r>
              <a:rPr sz="1900">
                <a:solidFill>
                  <a:srgbClr val="FFFFFF"/>
                </a:solidFill>
                <a:latin typeface="Calibri"/>
              </a:rPr>
              <a:t>Beat-averaged MAP at ~2-second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Two Models Compared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11887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Model A — Intraop Only</a:t>
            </a:r>
            <a:br/>
            <a:r>
              <a:t>16 features from surgery alone</a:t>
            </a:r>
            <a:br/>
            <a:r>
              <a:t>(MAP metrics + blood loss + fluids + vasopressors)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383280"/>
            <a:ext cx="5029200" cy="118872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Model B — Full Model</a:t>
            </a:r>
            <a:br/>
            <a:r>
              <a:t>22 features = Model A + age, BMI,</a:t>
            </a:r>
            <a:br/>
            <a:r>
              <a:t>ASA, emergency status, comorbidities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10058400" cy="1097280"/>
          </a:xfrm>
          <a:prstGeom prst="roundRect">
            <a:avLst/>
          </a:prstGeom>
          <a:solidFill>
            <a:srgbClr val="4E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Key question: Does knowing who the patient is before surgery</a:t>
            </a:r>
            <a:br/>
            <a:r>
              <a:t>add anything to what we observe during surgery?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Did We Measure from Blood Pressure?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Turning a continuous MAP signal into interpretable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Average MAP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Overall perfusion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% time MAP &lt; 65 mmHg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Total hypotension burden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% time MAP &lt; 55 mmHg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Severe hypotension (organ damage)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Number of hypotensive episodes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How many times BP dropped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Longest episode duration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Sustained hypoperfusion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Time to first episode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Early fragility marker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MAP variability (SD, IQR)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Haemodynamic 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977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MAP trend (slope)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Getting worse or stable?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+ Clinical variables: estimated blood loss, urine output, crystalloid/colloid, vasopressors, transfusion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ICU vs Ward: What Looks Different?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fea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5760720"/>
            <a:ext cx="10058400" cy="731520"/>
          </a:xfrm>
          <a:prstGeom prst="roundRect">
            <a:avLst/>
          </a:prstGeom>
          <a:solidFill>
            <a:srgbClr val="4E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single number perfectly separates ICU from ward — the combination of features provides discriminative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Machine Learning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Keeping it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Random Forest = a committee of 300 decision trees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Each tree asks simple yes/no questions:
    "Is MAP &lt; 70?"  "Episodes &gt; 3?"  "Blood loss &gt; 500 mL?"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All 300 trees vote → majority rules → ICU or Ward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Validated with 5-fold cross-validation:
    Train on 80%, test on 20% — repeated 5 times
    so every patient gets tested on data the model hasn't seen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3200400" cy="1097280"/>
          </a:xfrm>
          <a:prstGeom prst="roundRect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Logistic Regression</a:t>
            </a:r>
            <a:br/>
            <a:r>
              <a:t>(linear baseline)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5029200"/>
            <a:ext cx="32004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  <a:br/>
            <a:r>
              <a:t>(committee of trees)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5029200"/>
            <a:ext cx="3200400" cy="10972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Gradient Boosting</a:t>
            </a:r>
            <a:br/>
            <a:r>
              <a:t>(learns from mistakes)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Results: How Well Does It 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212080"/>
            <a:ext cx="5303520" cy="11887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AUC = 0.789 (Intraop Only, Random Forest)</a:t>
            </a:r>
            <a:br/>
            <a:r>
              <a:t>"Pick one ICU + one ward patient at random →</a:t>
            </a:r>
            <a:br/>
            <a:r>
              <a:t>model identifies which is which 79% of the time"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5212080"/>
            <a:ext cx="5303520" cy="1188720"/>
          </a:xfrm>
          <a:prstGeom prst="roundRect">
            <a:avLst/>
          </a:prstGeom>
          <a:solidFill>
            <a:srgbClr val="E0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Intraop-only model BEAT the full model!</a:t>
            </a:r>
            <a:br/>
            <a:r>
              <a:t>What happens during surgery predicts ICU</a:t>
            </a:r>
            <a:br/>
            <a:r>
              <a:t>better than who the patient was before surgery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Matters Most?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Feature importance from Random Forest</a:t>
            </a:r>
          </a:p>
        </p:txBody>
      </p:sp>
      <p:pic>
        <p:nvPicPr>
          <p:cNvPr id="5" name="Picture 4" descr="03_feature_importanc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#1  Number of hypotensive episodes — not total time hypotensive!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#2  Severe hypotension (MAP &lt; 55) — below autoregulation threshold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#3  Case duration — proxy for surgical complexity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MAP Trajectory Atlas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Comparing blood pressure patterns throughout the entire case</a:t>
            </a:r>
          </a:p>
        </p:txBody>
      </p:sp>
      <p:pic>
        <p:nvPicPr>
          <p:cNvPr id="5" name="Picture 4" descr="05_map_trajectory_at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29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4EC9B0"/>
                </a:solidFill>
                <a:latin typeface="Calibri"/>
              </a:rPr>
              <a:t>●  </a:t>
            </a:r>
            <a:r>
              <a:rPr sz="1800">
                <a:solidFill>
                  <a:srgbClr val="FFFFFF"/>
                </a:solidFill>
                <a:latin typeface="Calibri"/>
              </a:rPr>
              <a:t>ICU patients have persistently lower MAP throughout — not just at isolated moments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EC9B0"/>
                </a:solidFill>
                <a:latin typeface="Calibri"/>
              </a:rPr>
              <a:t>●  </a:t>
            </a:r>
            <a:r>
              <a:rPr sz="1800">
                <a:solidFill>
                  <a:srgbClr val="FFFFFF"/>
                </a:solidFill>
                <a:latin typeface="Calibri"/>
              </a:rPr>
              <a:t>Biggest gap during the maintenance phase (middle of surgery)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EC9B0"/>
                </a:solidFill>
                <a:latin typeface="Calibri"/>
              </a:rPr>
              <a:t>●  </a:t>
            </a:r>
            <a:r>
              <a:rPr sz="1800">
                <a:solidFill>
                  <a:srgbClr val="FFFFFF"/>
                </a:solidFill>
                <a:latin typeface="Calibri"/>
              </a:rPr>
              <a:t>Mean MAP: ICU 79.1 vs Ward 83.9 mmHg (p = 0.036) — even 5 mmHg matters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Clinical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At the optimal decision threshold (0.50)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4800" b="1">
                <a:solidFill>
                  <a:srgbClr val="FFFFFF"/>
                </a:solidFill>
                <a:latin typeface="Calibri"/>
              </a:defRPr>
            </a:pPr>
            <a:r>
              <a:t>77%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Sensitivity</a:t>
            </a:r>
            <a:br/>
            <a:r>
              <a:t>(Catches ICU patients)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201168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4800" b="1">
                <a:solidFill>
                  <a:srgbClr val="FFFFFF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7490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Specificity</a:t>
            </a:r>
            <a:br/>
            <a:r>
              <a:t>(Correctly clears ward)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560320" cy="2011680"/>
          </a:xfrm>
          <a:prstGeom prst="roundRect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4800" b="1">
                <a:solidFill>
                  <a:srgbClr val="FFFFFF"/>
                </a:solidFill>
                <a:latin typeface="Calibri"/>
              </a:defRPr>
            </a:pPr>
            <a:r>
              <a:t>0.74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490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F1 Score</a:t>
            </a:r>
            <a:br/>
            <a:r>
              <a:t>(Overall balance)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645920"/>
            <a:ext cx="2560320" cy="20116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4800" b="1">
                <a:solidFill>
                  <a:srgbClr val="FFFFFF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7490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Accuracy</a:t>
            </a:r>
            <a:br/>
            <a:r>
              <a:t>(Overall correct)</a:t>
            </a:r>
          </a:p>
        </p:txBody>
      </p:sp>
      <p:pic>
        <p:nvPicPr>
          <p:cNvPr id="13" name="Picture 12" descr="04_threshold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0"/>
            <a:ext cx="91440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Key Clinical Message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  <a:latin typeface="Calibri"/>
              </a:defRPr>
            </a:pPr>
            <a:r>
              <a:t>Count the Dips, Not Just the Duration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>
                <a:solidFill>
                  <a:srgbClr val="FFD700"/>
                </a:solidFill>
                <a:latin typeface="Calibri"/>
              </a:rPr>
              <a:t>●  </a:t>
            </a:r>
            <a:r>
              <a:rPr sz="2000">
                <a:solidFill>
                  <a:srgbClr val="FFFFFF"/>
                </a:solidFill>
                <a:latin typeface="Calibri"/>
              </a:rPr>
              <a:t>The #1 predictor was number of hypotensive episodes
— not total time spent hypotensive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FFD700"/>
                </a:solidFill>
                <a:latin typeface="Calibri"/>
              </a:rPr>
              <a:t>●  </a:t>
            </a:r>
            <a:r>
              <a:rPr sz="2000">
                <a:solidFill>
                  <a:srgbClr val="FFFFFF"/>
                </a:solidFill>
                <a:latin typeface="Calibri"/>
              </a:rPr>
              <a:t>Repeated drops and recoveries (ischaemia-reperfusion cycles)
may be more injurious than one sustained dip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FFD700"/>
                </a:solidFill>
                <a:latin typeface="Calibri"/>
              </a:rPr>
              <a:t>●  </a:t>
            </a:r>
            <a:r>
              <a:rPr sz="2000">
                <a:solidFill>
                  <a:srgbClr val="FFFFFF"/>
                </a:solidFill>
                <a:latin typeface="Calibri"/>
              </a:rPr>
              <a:t>This aligns with emerging evidence on episodic vs
cumulative hypotension burden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FFD700"/>
                </a:solidFill>
                <a:latin typeface="Calibri"/>
              </a:rPr>
              <a:t>●  </a:t>
            </a:r>
            <a:r>
              <a:rPr sz="2000">
                <a:solidFill>
                  <a:srgbClr val="FFFFFF"/>
                </a:solidFill>
                <a:latin typeface="Calibri"/>
              </a:rPr>
              <a:t>Clinically: a patient who dips below MAP 65 six times
may be at higher risk than one who stays at MAP 60 for 10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Would This Work in Practice?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548640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691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Arterial line MAP is already recorded in the AIMS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514600"/>
            <a:ext cx="548640" cy="54864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At case end, algorithm automatically calculates risk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383280"/>
            <a:ext cx="548640" cy="5486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429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Score ≥ 50% triggers a clinical review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251959"/>
            <a:ext cx="548640" cy="548640"/>
          </a:xfrm>
          <a:prstGeom prst="roundRect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2976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Anaesthetist reviews MAP trajectory + clinical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120640"/>
            <a:ext cx="548640" cy="548640"/>
          </a:xfrm>
          <a:prstGeom prst="roundRect">
            <a:avLst/>
          </a:prstGeom>
          <a:solidFill>
            <a:srgbClr val="E0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166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Final ICU decision remains with the clinician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486400"/>
            <a:ext cx="9144000" cy="822960"/>
          </a:xfrm>
          <a:prstGeom prst="roundRect">
            <a:avLst/>
          </a:prstGeom>
          <a:solidFill>
            <a:srgbClr val="4E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 new equipment  ·  No manual data entry  ·  Decision support, not replacement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Small sample size (100 cases) — needs external validation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Enriched ICU prevalence (51% vs real-world ~15–20%)
→ requires prevalence recalibration before deployment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Single-centre data (Seoul) — generalisability to other
populations and practice patterns unknown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Retrospective design — no proof yet that it changes outcomes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4EC9B0"/>
                </a:solidFill>
                <a:latin typeface="Calibri"/>
              </a:rPr>
              <a:t>●  </a:t>
            </a:r>
            <a:r>
              <a:rPr sz="2200">
                <a:solidFill>
                  <a:srgbClr val="FFFFFF"/>
                </a:solidFill>
                <a:latin typeface="Calibri"/>
              </a:rPr>
              <a:t>Missing variables: cardiac output, depth of anaesthesia,
temperature, regional anaesthesia techniques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" cy="6400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Intraoperative MAP patterns predict ICU admission</a:t>
            </a:r>
            <a:br/>
            <a:r>
              <a:t>with AUC = 0.789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640080" cy="64008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146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What happens during surgery matters more than</a:t>
            </a:r>
            <a:br/>
            <a:r>
              <a:t>who the patient was before surgery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640080" cy="640080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520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Count the dips — episode count beats total</a:t>
            </a:r>
            <a:br/>
            <a:r>
              <a:t>hypotension duration as a predictor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640080" cy="6400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526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Even a 5 mmHg sustained MAP difference is</a:t>
            </a:r>
            <a:br/>
            <a:r>
              <a:t>prognostically meaningful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640080" cy="640080"/>
          </a:xfrm>
          <a:prstGeom prst="roundRect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5321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This could be automated with zero additional</a:t>
            </a:r>
            <a:br/>
            <a:r>
              <a:t>monitoring equipment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EC9B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Data: VitalDB (vitaldb.net) — open access</a:t>
            </a:r>
          </a:p>
          <a:p>
            <a:pPr algn="ctr">
              <a:spcBef>
                <a:spcPts val="600"/>
              </a:spcBef>
              <a:defRPr sz="1000" b="0">
                <a:solidFill>
                  <a:srgbClr val="CCCCCC"/>
                </a:solidFill>
                <a:latin typeface="Calibri"/>
              </a:defRPr>
            </a:pPr>
          </a:p>
          <a:p>
            <a:pPr algn="ctr">
              <a:spcBef>
                <a:spcPts val="800"/>
              </a:spcBef>
              <a:defRPr sz="1600" b="1">
                <a:solidFill>
                  <a:srgbClr val="CCCCCC"/>
                </a:solidFill>
                <a:latin typeface="Calibri"/>
              </a:defRPr>
            </a:pPr>
            <a:r>
              <a:t>Key references: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Walsh et al. Anesthesiology 2013 — MAP thresholds &amp; outcomes</a:t>
            </a:r>
          </a:p>
          <a:p>
            <a:pPr algn="ctr">
              <a:spcBef>
                <a:spcPts val="2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Wesselink et al. BJA 2018 — Hypotension &amp; adverse outcomes review</a:t>
            </a:r>
          </a:p>
          <a:p>
            <a:pPr algn="ctr">
              <a:spcBef>
                <a:spcPts val="2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Lee et al. Sci Data 2022 — VitalDB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